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71" r:id="rId6"/>
    <p:sldId id="260" r:id="rId7"/>
    <p:sldId id="261" r:id="rId8"/>
    <p:sldId id="272" r:id="rId9"/>
    <p:sldId id="275" r:id="rId10"/>
    <p:sldId id="276" r:id="rId11"/>
    <p:sldId id="273" r:id="rId12"/>
    <p:sldId id="277" r:id="rId13"/>
    <p:sldId id="269" r:id="rId14"/>
    <p:sldId id="268" r:id="rId15"/>
    <p:sldId id="266" r:id="rId16"/>
    <p:sldId id="274" r:id="rId17"/>
    <p:sldId id="262" r:id="rId18"/>
    <p:sldId id="267" r:id="rId19"/>
    <p:sldId id="263" r:id="rId20"/>
    <p:sldId id="264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1412694-0AAB-42C6-BE88-25A3476E38C3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2BCBC949-BCD6-425A-BAB5-F6A5AA16505A}">
      <dgm:prSet phldrT="[Text]" phldr="0"/>
      <dgm:spPr/>
      <dgm:t>
        <a:bodyPr/>
        <a:lstStyle/>
        <a:p>
          <a:r>
            <a:rPr lang="en-US" dirty="0"/>
            <a:t>Warning</a:t>
          </a:r>
          <a:endParaRPr lang="en-IN" dirty="0"/>
        </a:p>
      </dgm:t>
    </dgm:pt>
    <dgm:pt modelId="{D9C8DAA3-90F9-49F3-A74E-187518F27125}" type="parTrans" cxnId="{DD1736F8-028F-4A17-BAC8-1BB025A33074}">
      <dgm:prSet/>
      <dgm:spPr/>
      <dgm:t>
        <a:bodyPr/>
        <a:lstStyle/>
        <a:p>
          <a:endParaRPr lang="en-IN"/>
        </a:p>
      </dgm:t>
    </dgm:pt>
    <dgm:pt modelId="{B42C2528-E751-4A20-BAA2-843B47377D47}" type="sibTrans" cxnId="{DD1736F8-028F-4A17-BAC8-1BB025A33074}">
      <dgm:prSet/>
      <dgm:spPr/>
      <dgm:t>
        <a:bodyPr/>
        <a:lstStyle/>
        <a:p>
          <a:endParaRPr lang="en-IN"/>
        </a:p>
      </dgm:t>
    </dgm:pt>
    <dgm:pt modelId="{0A6F38F8-EEFC-4B63-B2D8-FF9986F1BD73}">
      <dgm:prSet phldrT="[Text]" phldr="0"/>
      <dgm:spPr/>
      <dgm:t>
        <a:bodyPr/>
        <a:lstStyle/>
        <a:p>
          <a:r>
            <a:rPr lang="en-US" dirty="0"/>
            <a:t>AI Detection</a:t>
          </a:r>
          <a:endParaRPr lang="en-IN" dirty="0"/>
        </a:p>
      </dgm:t>
    </dgm:pt>
    <dgm:pt modelId="{66384269-643C-4696-A405-4CE5B115079F}" type="parTrans" cxnId="{C45FAA76-B925-4303-B350-8E388F0266BC}">
      <dgm:prSet/>
      <dgm:spPr/>
      <dgm:t>
        <a:bodyPr/>
        <a:lstStyle/>
        <a:p>
          <a:endParaRPr lang="en-IN"/>
        </a:p>
      </dgm:t>
    </dgm:pt>
    <dgm:pt modelId="{81915E27-805C-48BF-9C48-45B07A8C9D62}" type="sibTrans" cxnId="{C45FAA76-B925-4303-B350-8E388F0266BC}">
      <dgm:prSet/>
      <dgm:spPr/>
      <dgm:t>
        <a:bodyPr/>
        <a:lstStyle/>
        <a:p>
          <a:endParaRPr lang="en-IN"/>
        </a:p>
      </dgm:t>
    </dgm:pt>
    <dgm:pt modelId="{15FE7DE1-C229-4C58-BCB3-92433F8F7EF1}">
      <dgm:prSet phldrT="[Text]" phldr="0"/>
      <dgm:spPr/>
      <dgm:t>
        <a:bodyPr/>
        <a:lstStyle/>
        <a:p>
          <a:r>
            <a:rPr lang="en-US" dirty="0"/>
            <a:t>System Response</a:t>
          </a:r>
          <a:endParaRPr lang="en-IN" dirty="0"/>
        </a:p>
      </dgm:t>
    </dgm:pt>
    <dgm:pt modelId="{35BFD071-1846-409B-AC0F-40D0AC4E871F}" type="parTrans" cxnId="{1E6E2C4F-808E-44EB-8935-95461169FE43}">
      <dgm:prSet/>
      <dgm:spPr/>
      <dgm:t>
        <a:bodyPr/>
        <a:lstStyle/>
        <a:p>
          <a:endParaRPr lang="en-IN"/>
        </a:p>
      </dgm:t>
    </dgm:pt>
    <dgm:pt modelId="{4447FC0E-678D-401A-B98D-03BA96CC44F2}" type="sibTrans" cxnId="{1E6E2C4F-808E-44EB-8935-95461169FE43}">
      <dgm:prSet/>
      <dgm:spPr/>
      <dgm:t>
        <a:bodyPr/>
        <a:lstStyle/>
        <a:p>
          <a:endParaRPr lang="en-IN"/>
        </a:p>
      </dgm:t>
    </dgm:pt>
    <dgm:pt modelId="{14DC6668-1E8E-41B1-93B1-5DA0A8EC2757}">
      <dgm:prSet/>
      <dgm:spPr/>
      <dgm:t>
        <a:bodyPr/>
        <a:lstStyle/>
        <a:p>
          <a:r>
            <a:rPr lang="en-US" dirty="0"/>
            <a:t>Suspicious Pattern</a:t>
          </a:r>
          <a:endParaRPr lang="en-IN" dirty="0"/>
        </a:p>
      </dgm:t>
    </dgm:pt>
    <dgm:pt modelId="{EB4A827E-D82E-4D4A-BF37-899EDDD3FA38}" type="parTrans" cxnId="{5E5F46A5-18DA-4DEB-9430-967F676C3765}">
      <dgm:prSet/>
      <dgm:spPr/>
      <dgm:t>
        <a:bodyPr/>
        <a:lstStyle/>
        <a:p>
          <a:endParaRPr lang="en-IN"/>
        </a:p>
      </dgm:t>
    </dgm:pt>
    <dgm:pt modelId="{FE9CACAE-E9A0-470B-94D7-4B0734742348}" type="sibTrans" cxnId="{5E5F46A5-18DA-4DEB-9430-967F676C3765}">
      <dgm:prSet/>
      <dgm:spPr/>
      <dgm:t>
        <a:bodyPr/>
        <a:lstStyle/>
        <a:p>
          <a:endParaRPr lang="en-IN"/>
        </a:p>
      </dgm:t>
    </dgm:pt>
    <dgm:pt modelId="{4EB4769A-177E-4CA1-A69D-953638363F64}" type="pres">
      <dgm:prSet presAssocID="{41412694-0AAB-42C6-BE88-25A3476E38C3}" presName="CompostProcess" presStyleCnt="0">
        <dgm:presLayoutVars>
          <dgm:dir/>
          <dgm:resizeHandles val="exact"/>
        </dgm:presLayoutVars>
      </dgm:prSet>
      <dgm:spPr/>
    </dgm:pt>
    <dgm:pt modelId="{BECEE977-8882-4D15-BE55-36BD4E4F8BBC}" type="pres">
      <dgm:prSet presAssocID="{41412694-0AAB-42C6-BE88-25A3476E38C3}" presName="arrow" presStyleLbl="bgShp" presStyleIdx="0" presStyleCnt="1"/>
      <dgm:spPr/>
    </dgm:pt>
    <dgm:pt modelId="{F9A79D9E-0EDC-40D4-96D5-66C46AA21447}" type="pres">
      <dgm:prSet presAssocID="{41412694-0AAB-42C6-BE88-25A3476E38C3}" presName="linearProcess" presStyleCnt="0"/>
      <dgm:spPr/>
    </dgm:pt>
    <dgm:pt modelId="{D1192C2E-9CBC-4A68-BB9C-A756AFB533F9}" type="pres">
      <dgm:prSet presAssocID="{2BCBC949-BCD6-425A-BAB5-F6A5AA16505A}" presName="textNode" presStyleLbl="node1" presStyleIdx="0" presStyleCnt="4">
        <dgm:presLayoutVars>
          <dgm:bulletEnabled val="1"/>
        </dgm:presLayoutVars>
      </dgm:prSet>
      <dgm:spPr/>
    </dgm:pt>
    <dgm:pt modelId="{1AA0A9A4-CAA5-48F8-96E3-69782A645C9F}" type="pres">
      <dgm:prSet presAssocID="{B42C2528-E751-4A20-BAA2-843B47377D47}" presName="sibTrans" presStyleCnt="0"/>
      <dgm:spPr/>
    </dgm:pt>
    <dgm:pt modelId="{2228DBDF-9905-4B30-BDD5-CD6461A30FDD}" type="pres">
      <dgm:prSet presAssocID="{14DC6668-1E8E-41B1-93B1-5DA0A8EC2757}" presName="textNode" presStyleLbl="node1" presStyleIdx="1" presStyleCnt="4">
        <dgm:presLayoutVars>
          <dgm:bulletEnabled val="1"/>
        </dgm:presLayoutVars>
      </dgm:prSet>
      <dgm:spPr/>
    </dgm:pt>
    <dgm:pt modelId="{356CAF6B-BD1C-4252-A9F4-3745B484ECD6}" type="pres">
      <dgm:prSet presAssocID="{FE9CACAE-E9A0-470B-94D7-4B0734742348}" presName="sibTrans" presStyleCnt="0"/>
      <dgm:spPr/>
    </dgm:pt>
    <dgm:pt modelId="{89A0E60D-20E7-4545-8BAC-E914439CEBA5}" type="pres">
      <dgm:prSet presAssocID="{0A6F38F8-EEFC-4B63-B2D8-FF9986F1BD73}" presName="textNode" presStyleLbl="node1" presStyleIdx="2" presStyleCnt="4">
        <dgm:presLayoutVars>
          <dgm:bulletEnabled val="1"/>
        </dgm:presLayoutVars>
      </dgm:prSet>
      <dgm:spPr/>
    </dgm:pt>
    <dgm:pt modelId="{35275952-D82C-401B-9144-FDFC971D64A3}" type="pres">
      <dgm:prSet presAssocID="{81915E27-805C-48BF-9C48-45B07A8C9D62}" presName="sibTrans" presStyleCnt="0"/>
      <dgm:spPr/>
    </dgm:pt>
    <dgm:pt modelId="{E633CD08-A90E-44C2-ACBE-AD69E3120994}" type="pres">
      <dgm:prSet presAssocID="{15FE7DE1-C229-4C58-BCB3-92433F8F7EF1}" presName="textNode" presStyleLbl="node1" presStyleIdx="3" presStyleCnt="4">
        <dgm:presLayoutVars>
          <dgm:bulletEnabled val="1"/>
        </dgm:presLayoutVars>
      </dgm:prSet>
      <dgm:spPr/>
    </dgm:pt>
  </dgm:ptLst>
  <dgm:cxnLst>
    <dgm:cxn modelId="{0F19052B-9FE3-42D5-B1A8-524D49E7023D}" type="presOf" srcId="{41412694-0AAB-42C6-BE88-25A3476E38C3}" destId="{4EB4769A-177E-4CA1-A69D-953638363F64}" srcOrd="0" destOrd="0" presId="urn:microsoft.com/office/officeart/2005/8/layout/hProcess9"/>
    <dgm:cxn modelId="{1E6E2C4F-808E-44EB-8935-95461169FE43}" srcId="{41412694-0AAB-42C6-BE88-25A3476E38C3}" destId="{15FE7DE1-C229-4C58-BCB3-92433F8F7EF1}" srcOrd="3" destOrd="0" parTransId="{35BFD071-1846-409B-AC0F-40D0AC4E871F}" sibTransId="{4447FC0E-678D-401A-B98D-03BA96CC44F2}"/>
    <dgm:cxn modelId="{C45FAA76-B925-4303-B350-8E388F0266BC}" srcId="{41412694-0AAB-42C6-BE88-25A3476E38C3}" destId="{0A6F38F8-EEFC-4B63-B2D8-FF9986F1BD73}" srcOrd="2" destOrd="0" parTransId="{66384269-643C-4696-A405-4CE5B115079F}" sibTransId="{81915E27-805C-48BF-9C48-45B07A8C9D62}"/>
    <dgm:cxn modelId="{F306338B-B102-41CE-89F5-FE1707746CE7}" type="presOf" srcId="{15FE7DE1-C229-4C58-BCB3-92433F8F7EF1}" destId="{E633CD08-A90E-44C2-ACBE-AD69E3120994}" srcOrd="0" destOrd="0" presId="urn:microsoft.com/office/officeart/2005/8/layout/hProcess9"/>
    <dgm:cxn modelId="{C4402A9B-4981-48FF-99FB-5E366E2AE83F}" type="presOf" srcId="{0A6F38F8-EEFC-4B63-B2D8-FF9986F1BD73}" destId="{89A0E60D-20E7-4545-8BAC-E914439CEBA5}" srcOrd="0" destOrd="0" presId="urn:microsoft.com/office/officeart/2005/8/layout/hProcess9"/>
    <dgm:cxn modelId="{E8DAF3A2-FAAD-4E38-B181-3222C7E96D11}" type="presOf" srcId="{14DC6668-1E8E-41B1-93B1-5DA0A8EC2757}" destId="{2228DBDF-9905-4B30-BDD5-CD6461A30FDD}" srcOrd="0" destOrd="0" presId="urn:microsoft.com/office/officeart/2005/8/layout/hProcess9"/>
    <dgm:cxn modelId="{5E5F46A5-18DA-4DEB-9430-967F676C3765}" srcId="{41412694-0AAB-42C6-BE88-25A3476E38C3}" destId="{14DC6668-1E8E-41B1-93B1-5DA0A8EC2757}" srcOrd="1" destOrd="0" parTransId="{EB4A827E-D82E-4D4A-BF37-899EDDD3FA38}" sibTransId="{FE9CACAE-E9A0-470B-94D7-4B0734742348}"/>
    <dgm:cxn modelId="{D1B761EA-1206-4DE3-BB93-8A7EBA414EF5}" type="presOf" srcId="{2BCBC949-BCD6-425A-BAB5-F6A5AA16505A}" destId="{D1192C2E-9CBC-4A68-BB9C-A756AFB533F9}" srcOrd="0" destOrd="0" presId="urn:microsoft.com/office/officeart/2005/8/layout/hProcess9"/>
    <dgm:cxn modelId="{DD1736F8-028F-4A17-BAC8-1BB025A33074}" srcId="{41412694-0AAB-42C6-BE88-25A3476E38C3}" destId="{2BCBC949-BCD6-425A-BAB5-F6A5AA16505A}" srcOrd="0" destOrd="0" parTransId="{D9C8DAA3-90F9-49F3-A74E-187518F27125}" sibTransId="{B42C2528-E751-4A20-BAA2-843B47377D47}"/>
    <dgm:cxn modelId="{5A313FFC-010B-477C-853E-26A64E05E486}" type="presParOf" srcId="{4EB4769A-177E-4CA1-A69D-953638363F64}" destId="{BECEE977-8882-4D15-BE55-36BD4E4F8BBC}" srcOrd="0" destOrd="0" presId="urn:microsoft.com/office/officeart/2005/8/layout/hProcess9"/>
    <dgm:cxn modelId="{F332E0E2-786C-4E94-950C-480398B5F0DB}" type="presParOf" srcId="{4EB4769A-177E-4CA1-A69D-953638363F64}" destId="{F9A79D9E-0EDC-40D4-96D5-66C46AA21447}" srcOrd="1" destOrd="0" presId="urn:microsoft.com/office/officeart/2005/8/layout/hProcess9"/>
    <dgm:cxn modelId="{56565B85-F7C3-47F4-8DA5-4B314D4BDD83}" type="presParOf" srcId="{F9A79D9E-0EDC-40D4-96D5-66C46AA21447}" destId="{D1192C2E-9CBC-4A68-BB9C-A756AFB533F9}" srcOrd="0" destOrd="0" presId="urn:microsoft.com/office/officeart/2005/8/layout/hProcess9"/>
    <dgm:cxn modelId="{5FF68A1A-1A26-48B4-943C-D5C596DCCED7}" type="presParOf" srcId="{F9A79D9E-0EDC-40D4-96D5-66C46AA21447}" destId="{1AA0A9A4-CAA5-48F8-96E3-69782A645C9F}" srcOrd="1" destOrd="0" presId="urn:microsoft.com/office/officeart/2005/8/layout/hProcess9"/>
    <dgm:cxn modelId="{39AA5FFF-E096-47C3-9C9B-2ED1C35CE311}" type="presParOf" srcId="{F9A79D9E-0EDC-40D4-96D5-66C46AA21447}" destId="{2228DBDF-9905-4B30-BDD5-CD6461A30FDD}" srcOrd="2" destOrd="0" presId="urn:microsoft.com/office/officeart/2005/8/layout/hProcess9"/>
    <dgm:cxn modelId="{2B6538C2-7620-4F89-99E4-EEBA7CB25E86}" type="presParOf" srcId="{F9A79D9E-0EDC-40D4-96D5-66C46AA21447}" destId="{356CAF6B-BD1C-4252-A9F4-3745B484ECD6}" srcOrd="3" destOrd="0" presId="urn:microsoft.com/office/officeart/2005/8/layout/hProcess9"/>
    <dgm:cxn modelId="{7BDDC7FD-1655-4D8A-9CF7-083866EB7894}" type="presParOf" srcId="{F9A79D9E-0EDC-40D4-96D5-66C46AA21447}" destId="{89A0E60D-20E7-4545-8BAC-E914439CEBA5}" srcOrd="4" destOrd="0" presId="urn:microsoft.com/office/officeart/2005/8/layout/hProcess9"/>
    <dgm:cxn modelId="{37D8A43C-3101-4203-9D9C-604BCB1F4691}" type="presParOf" srcId="{F9A79D9E-0EDC-40D4-96D5-66C46AA21447}" destId="{35275952-D82C-401B-9144-FDFC971D64A3}" srcOrd="5" destOrd="0" presId="urn:microsoft.com/office/officeart/2005/8/layout/hProcess9"/>
    <dgm:cxn modelId="{1FF4E476-DE9F-4112-8804-972064873707}" type="presParOf" srcId="{F9A79D9E-0EDC-40D4-96D5-66C46AA21447}" destId="{E633CD08-A90E-44C2-ACBE-AD69E3120994}" srcOrd="6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CEE977-8882-4D15-BE55-36BD4E4F8BBC}">
      <dsp:nvSpPr>
        <dsp:cNvPr id="0" name=""/>
        <dsp:cNvSpPr/>
      </dsp:nvSpPr>
      <dsp:spPr>
        <a:xfrm>
          <a:off x="702945" y="0"/>
          <a:ext cx="7966710" cy="4572000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192C2E-9CBC-4A68-BB9C-A756AFB533F9}">
      <dsp:nvSpPr>
        <dsp:cNvPr id="0" name=""/>
        <dsp:cNvSpPr/>
      </dsp:nvSpPr>
      <dsp:spPr>
        <a:xfrm>
          <a:off x="1061" y="1371599"/>
          <a:ext cx="2236388" cy="1828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Warning</a:t>
          </a:r>
          <a:endParaRPr lang="en-IN" sz="3000" kern="1200" dirty="0"/>
        </a:p>
      </dsp:txBody>
      <dsp:txXfrm>
        <a:off x="90336" y="1460874"/>
        <a:ext cx="2057838" cy="1650250"/>
      </dsp:txXfrm>
    </dsp:sp>
    <dsp:sp modelId="{2228DBDF-9905-4B30-BDD5-CD6461A30FDD}">
      <dsp:nvSpPr>
        <dsp:cNvPr id="0" name=""/>
        <dsp:cNvSpPr/>
      </dsp:nvSpPr>
      <dsp:spPr>
        <a:xfrm>
          <a:off x="2379091" y="1371599"/>
          <a:ext cx="2236388" cy="1828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Suspicious Pattern</a:t>
          </a:r>
          <a:endParaRPr lang="en-IN" sz="3000" kern="1200" dirty="0"/>
        </a:p>
      </dsp:txBody>
      <dsp:txXfrm>
        <a:off x="2468366" y="1460874"/>
        <a:ext cx="2057838" cy="1650250"/>
      </dsp:txXfrm>
    </dsp:sp>
    <dsp:sp modelId="{89A0E60D-20E7-4545-8BAC-E914439CEBA5}">
      <dsp:nvSpPr>
        <dsp:cNvPr id="0" name=""/>
        <dsp:cNvSpPr/>
      </dsp:nvSpPr>
      <dsp:spPr>
        <a:xfrm>
          <a:off x="4757121" y="1371599"/>
          <a:ext cx="2236388" cy="1828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AI Detection</a:t>
          </a:r>
          <a:endParaRPr lang="en-IN" sz="3000" kern="1200" dirty="0"/>
        </a:p>
      </dsp:txBody>
      <dsp:txXfrm>
        <a:off x="4846396" y="1460874"/>
        <a:ext cx="2057838" cy="1650250"/>
      </dsp:txXfrm>
    </dsp:sp>
    <dsp:sp modelId="{E633CD08-A90E-44C2-ACBE-AD69E3120994}">
      <dsp:nvSpPr>
        <dsp:cNvPr id="0" name=""/>
        <dsp:cNvSpPr/>
      </dsp:nvSpPr>
      <dsp:spPr>
        <a:xfrm>
          <a:off x="7135151" y="1371599"/>
          <a:ext cx="2236388" cy="1828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System Response</a:t>
          </a:r>
          <a:endParaRPr lang="en-IN" sz="3000" kern="1200" dirty="0"/>
        </a:p>
      </dsp:txBody>
      <dsp:txXfrm>
        <a:off x="7224426" y="1460874"/>
        <a:ext cx="2057838" cy="16502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7369E-1D01-4E18-A41B-972E5282A5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7ACB01-ADDD-13C8-7D78-4FD47D1E31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C7438D-EA18-361E-D59E-153377263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E2FD9-74C2-C9B0-1BDC-57B92DCB6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E74D17-63FA-E32E-A58E-466459435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0081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BA9A7-DC78-3CB3-7F00-929E421E9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8F4783-8B8F-B836-F68D-81BDF16A16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FE82BE-60AE-D797-7868-81B8EF463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D90722-9270-7EDB-981C-B923AA08C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9E6731-DBE6-4F74-E2CF-7659DBC87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9242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B8AFF-E64A-AF8D-BBC2-E5AB945B4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ACB9A4-3B4F-7FE6-9B28-F5EF72B257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CA73C0-5E6E-B28A-6C22-06D9AC472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49FA3B-4073-0F86-8AC8-81E0E4C3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F5269F-612E-B784-B48A-95AA07910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024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D166B-106E-C76B-9CE8-1B9A4AE5C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3AF0E-E8F2-1B19-B65C-0E1CC0813A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CFFB13-732B-DEF8-DBEC-5F73E2395F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273C03-C9D7-F051-B57E-8DA06873D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5D1B14-3A56-41BB-4E4A-4735998AD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854A9C-028F-0B55-463A-1087581A9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7903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166EC-9430-6B3D-E0CE-0A71B38A9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E26AD1-F80A-C09B-B640-E65D99E68F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C293B4-0027-A04C-BA3E-441C93A1D8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4E42C3-BCA9-FB95-D8DC-7F3044ADD3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C8EFB4-7BB2-F8E3-21FC-7E4A10DFDE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B1C773-744A-FCD3-C078-3DC992C32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F26583-570F-F397-D583-9963BD0D0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F8FC52-BDE3-9E21-7004-9001CC624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764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917DB-BC11-A965-7D47-A83062720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559EBB-66AC-0A22-FB25-AA24D1882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21C889-A42D-7ECD-6189-48F6199C5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3D6C85-1A5C-85A2-D47F-73050C49C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0732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56DA96-DA53-0AED-0F58-E803782E3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8408AC-42F9-A3E6-20C6-19B6AFB04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579749-EC75-7164-FBE8-61C5FD951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1235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BE5F6-B24D-5E61-DC38-DA3F87B34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B0E6B7-31E9-4177-5C1F-03A7DBD36C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910E19-657E-B541-E036-959BA41875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A2AEC1-909F-60C3-702B-6244A8A7D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E9E6BA-2E7B-3E57-2F0C-5F2FD1719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B71D75-64B2-1389-FADB-ED9520B8A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7443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1262D-CF25-FD3A-5B0C-AFA7F0A7D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C1E524-18D7-464E-3F34-14CBF4862E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712348-99C4-F005-5D92-24A299F993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C898F6-D595-1FDE-2158-79E6686C8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E67F9F-625D-1107-9BCE-138B29817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DC0215-9ED1-CB53-652D-46D93AD26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0034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EDE86-64B7-9F0A-5001-6F43A0FA6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37D706-8AAA-2524-04BB-26C4624206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18E778-061C-459E-CD0C-58DCA0CF7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AFE4EF-7849-CFF9-1385-7BDB42DF6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DA96F9-D0E3-05A9-C32F-CCFCFCE6E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1948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D04E30-06E1-5212-4B6D-25886B9C37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1C275C-3D2D-2452-9149-89BBE7CA68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C131ED-A5B2-3FF2-8E5C-283664ABE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1C8846-9586-A23A-3D98-740B85ED2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D27319-B31F-9567-7E64-8BEAB1A3C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4769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279A75-0843-3E26-FA3D-7955B436D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A1EE1-247A-E887-762B-4BC2DBFD35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3DF53D-E00E-7D7F-402F-506A960A97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FACB4A-C46D-47C8-95BF-463F9F428625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B7DC96-5252-D529-FF28-16B0D99D0D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F4C6E2-66C6-AF10-CC28-03DE3A9BB6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152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FB14B-13FD-63D0-B558-FA2B9FA1B8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34586"/>
            <a:ext cx="9144000" cy="978194"/>
          </a:xfrm>
        </p:spPr>
        <p:txBody>
          <a:bodyPr>
            <a:normAutofit fontScale="90000"/>
          </a:bodyPr>
          <a:lstStyle/>
          <a:p>
            <a:r>
              <a:rPr lang="en-US" sz="4400" b="1" dirty="0"/>
              <a:t>A</a:t>
            </a:r>
            <a:r>
              <a:rPr lang="en-IN" sz="4400" b="1" dirty="0"/>
              <a:t>I-Assisted Secure Messaging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DAA6DE-3B6C-1A2F-6135-52EEA7D165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7411" y="4890977"/>
            <a:ext cx="3239387" cy="1222744"/>
          </a:xfrm>
        </p:spPr>
        <p:txBody>
          <a:bodyPr/>
          <a:lstStyle/>
          <a:p>
            <a:r>
              <a:rPr lang="en-IN" dirty="0"/>
              <a:t>Submitted By:</a:t>
            </a:r>
            <a:br>
              <a:rPr lang="en-IN" dirty="0"/>
            </a:br>
            <a:r>
              <a:rPr lang="en-IN" dirty="0"/>
              <a:t>Keshav Khandelwal</a:t>
            </a:r>
          </a:p>
          <a:p>
            <a:r>
              <a:rPr lang="en-IN" dirty="0"/>
              <a:t>2427030517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265C3A1-7DE8-FF2B-D7D7-6CB2859C63C2}"/>
              </a:ext>
            </a:extLst>
          </p:cNvPr>
          <p:cNvSpPr txBox="1">
            <a:spLocks/>
          </p:cNvSpPr>
          <p:nvPr/>
        </p:nvSpPr>
        <p:spPr>
          <a:xfrm>
            <a:off x="7875203" y="4883885"/>
            <a:ext cx="3239386" cy="12227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Supervised By:</a:t>
            </a:r>
            <a:br>
              <a:rPr lang="en-IN" dirty="0"/>
            </a:br>
            <a:r>
              <a:rPr lang="en-IN" dirty="0"/>
              <a:t>Dr. Rajat Goel</a:t>
            </a:r>
          </a:p>
          <a:p>
            <a:endParaRPr lang="en-IN" dirty="0"/>
          </a:p>
        </p:txBody>
      </p:sp>
      <p:pic>
        <p:nvPicPr>
          <p:cNvPr id="8" name="Picture 7" descr="A black and white text&#10;&#10;AI-generated content may be incorrect.">
            <a:extLst>
              <a:ext uri="{FF2B5EF4-FFF2-40B4-BE49-F238E27FC236}">
                <a16:creationId xmlns:a16="http://schemas.microsoft.com/office/drawing/2014/main" id="{2AD7126F-2B55-B457-37C9-C05FFDD4D2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56" y="36039"/>
            <a:ext cx="4174039" cy="1222745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B8466A34-BD34-5DB1-EC2B-14EE0BD5593C}"/>
              </a:ext>
            </a:extLst>
          </p:cNvPr>
          <p:cNvSpPr txBox="1">
            <a:spLocks/>
          </p:cNvSpPr>
          <p:nvPr/>
        </p:nvSpPr>
        <p:spPr>
          <a:xfrm>
            <a:off x="1527542" y="1258784"/>
            <a:ext cx="9144000" cy="111227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2800" b="1" dirty="0"/>
              <a:t>School of Computer Science and Engineering</a:t>
            </a:r>
          </a:p>
          <a:p>
            <a:pPr>
              <a:lnSpc>
                <a:spcPct val="150000"/>
              </a:lnSpc>
            </a:pPr>
            <a:r>
              <a:rPr lang="en-IN" sz="2800" b="1" dirty="0"/>
              <a:t>Department of Computer Science and Engineering</a:t>
            </a:r>
          </a:p>
        </p:txBody>
      </p:sp>
    </p:spTree>
    <p:extLst>
      <p:ext uri="{BB962C8B-B14F-4D97-AF65-F5344CB8AC3E}">
        <p14:creationId xmlns:p14="http://schemas.microsoft.com/office/powerpoint/2010/main" val="380237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61AEC-0C6A-CF04-A6F2-DE0426255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6A8CF-2937-6FE2-6F8A-377D2DF1D6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Introduction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Literature Review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Problem Statement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Proposed Solution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Objectives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Results</a:t>
            </a:r>
          </a:p>
          <a:p>
            <a:pPr>
              <a:buFont typeface="Wingdings" panose="05000000000000000000" pitchFamily="2" charset="2"/>
              <a:buChar char="v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72198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5A96B-B72E-0C72-F61B-C99183D10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659"/>
            <a:ext cx="10515600" cy="1150373"/>
          </a:xfrm>
        </p:spPr>
        <p:txBody>
          <a:bodyPr/>
          <a:lstStyle/>
          <a:p>
            <a:pPr algn="ctr"/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31CBD1-1236-BD10-F9B4-E2675BA38E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0206"/>
            <a:ext cx="10515600" cy="482994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Cryptography ensures secure communication using encryption techniques like AES-256, but many security failures still occur due to human errors. </a:t>
            </a:r>
          </a:p>
          <a:p>
            <a:pPr marL="0" indent="0">
              <a:buNone/>
            </a:pPr>
            <a:r>
              <a:rPr lang="en-US" dirty="0"/>
              <a:t>This project proposes an AI-assisted secure messaging system that detects such errors and provides real-time warnings. It enhances cybersecurity by combining strong encryption with intelligent decision-making.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789765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5647D-9B85-4135-FDC8-4412998CA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659"/>
            <a:ext cx="10515600" cy="1061883"/>
          </a:xfrm>
        </p:spPr>
        <p:txBody>
          <a:bodyPr/>
          <a:lstStyle/>
          <a:p>
            <a:pPr algn="ctr"/>
            <a:r>
              <a:rPr lang="en-IN" dirty="0"/>
              <a:t>Literature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85F665-7E3B-0A75-0EE5-8FA0D35D26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7858"/>
            <a:ext cx="10515600" cy="48791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Existing research shows that cryptographic techniques like AES provide strong data security, but many failures occur due to human and implementation errors.</a:t>
            </a:r>
          </a:p>
          <a:p>
            <a:pPr marL="0" indent="0">
              <a:buNone/>
            </a:pPr>
            <a:r>
              <a:rPr lang="en-US" dirty="0"/>
              <a:t>Studies also highlight that AI-based systems can detect anomalies and user behavior patterns effectively. Therefore, combining cryptography with AI can significantly improve secure communication systems.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03081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F78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8A24BB5-926C-49F1-11AF-6AC5AF8C75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0150" y="643467"/>
            <a:ext cx="7791700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9581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A1533-4BE1-DF5E-D485-BD167C2BD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024CC5-00AF-876C-F7CA-146754384C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Secure messaging systems use strong cryptography.</a:t>
            </a:r>
          </a:p>
          <a:p>
            <a:pPr marL="0" indent="0">
              <a:buNone/>
            </a:pPr>
            <a:r>
              <a:rPr lang="en-US" dirty="0"/>
              <a:t>But human errors still cause security breaches.</a:t>
            </a:r>
          </a:p>
          <a:p>
            <a:pPr marL="0" indent="0">
              <a:buNone/>
            </a:pPr>
            <a:r>
              <a:rPr lang="en-US" dirty="0"/>
              <a:t>Examples: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Sending message without encryption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Weak passwords sending to wrong recipient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Existing systems are reactive, not intelligent.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Need for AI-based proactive system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47078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2C796-D371-7EE6-056A-4956DC258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7987"/>
            <a:ext cx="10515600" cy="1297859"/>
          </a:xfrm>
        </p:spPr>
        <p:txBody>
          <a:bodyPr/>
          <a:lstStyle/>
          <a:p>
            <a:pPr algn="ctr"/>
            <a:r>
              <a:rPr lang="en-IN" dirty="0"/>
              <a:t>Proposed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E7EF98-E6AD-70D5-2BE9-3A859F15DF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2993"/>
            <a:ext cx="10515600" cy="4593969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AI-assisted secure messaging system</a:t>
            </a:r>
          </a:p>
          <a:p>
            <a:r>
              <a:rPr lang="en-IN" dirty="0"/>
              <a:t>Combines:</a:t>
            </a:r>
          </a:p>
          <a:p>
            <a:pPr marL="0" indent="0">
              <a:buNone/>
            </a:pPr>
            <a:r>
              <a:rPr lang="en-IN" dirty="0"/>
              <a:t>             1. AES-256 encryption</a:t>
            </a:r>
          </a:p>
          <a:p>
            <a:pPr marL="0" indent="0">
              <a:buNone/>
            </a:pPr>
            <a:r>
              <a:rPr lang="en-IN" dirty="0"/>
              <a:t>             2. AI-based anomaly detection</a:t>
            </a:r>
          </a:p>
          <a:p>
            <a:r>
              <a:rPr lang="en-IN" dirty="0"/>
              <a:t>Provides:</a:t>
            </a:r>
          </a:p>
          <a:p>
            <a:pPr marL="0" indent="0">
              <a:buNone/>
            </a:pPr>
            <a:r>
              <a:rPr lang="en-IN" dirty="0"/>
              <a:t>             1. Automatic encryption</a:t>
            </a:r>
          </a:p>
          <a:p>
            <a:pPr marL="0" indent="0">
              <a:buNone/>
            </a:pPr>
            <a:r>
              <a:rPr lang="en-IN" dirty="0"/>
              <a:t>             2. Real-time alerts</a:t>
            </a:r>
          </a:p>
          <a:p>
            <a:pPr marL="0" indent="0">
              <a:buNone/>
            </a:pPr>
            <a:r>
              <a:rPr lang="en-IN" dirty="0"/>
              <a:t>             3. Error prevention</a:t>
            </a:r>
          </a:p>
        </p:txBody>
      </p:sp>
    </p:spTree>
    <p:extLst>
      <p:ext uri="{BB962C8B-B14F-4D97-AF65-F5344CB8AC3E}">
        <p14:creationId xmlns:p14="http://schemas.microsoft.com/office/powerpoint/2010/main" val="10777248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9CB40-9DCB-5FE6-D021-C75B3C465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323"/>
            <a:ext cx="10515600" cy="1209367"/>
          </a:xfrm>
        </p:spPr>
        <p:txBody>
          <a:bodyPr/>
          <a:lstStyle/>
          <a:p>
            <a:r>
              <a:rPr lang="en-US" dirty="0"/>
              <a:t>System Architecture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880B27-4B7B-32F3-84F6-89FC6F109C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5845"/>
            <a:ext cx="10515600" cy="476111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Components:</a:t>
            </a:r>
          </a:p>
          <a:p>
            <a:r>
              <a:rPr lang="en-IN" dirty="0"/>
              <a:t>User Interface</a:t>
            </a:r>
          </a:p>
          <a:p>
            <a:r>
              <a:rPr lang="en-IN" dirty="0"/>
              <a:t>AI Detection Module</a:t>
            </a:r>
          </a:p>
          <a:p>
            <a:r>
              <a:rPr lang="en-IN" dirty="0"/>
              <a:t>AES Encryption Module</a:t>
            </a:r>
          </a:p>
          <a:p>
            <a:r>
              <a:rPr lang="en-IN" dirty="0"/>
              <a:t>Message Transmission Module</a:t>
            </a:r>
          </a:p>
          <a:p>
            <a:r>
              <a:rPr lang="en-IN" dirty="0"/>
              <a:t>Receiver Module</a:t>
            </a:r>
          </a:p>
        </p:txBody>
      </p:sp>
    </p:spTree>
    <p:extLst>
      <p:ext uri="{BB962C8B-B14F-4D97-AF65-F5344CB8AC3E}">
        <p14:creationId xmlns:p14="http://schemas.microsoft.com/office/powerpoint/2010/main" val="2228676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9DF6F-083F-E25D-6F5B-AB2C272E3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7485"/>
            <a:ext cx="10515600" cy="1199534"/>
          </a:xfrm>
        </p:spPr>
        <p:txBody>
          <a:bodyPr>
            <a:normAutofit/>
          </a:bodyPr>
          <a:lstStyle/>
          <a:p>
            <a:r>
              <a:rPr lang="en-US" dirty="0"/>
              <a:t>Algorithm Selection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93FEBE-2596-AA1B-450C-5AB9802BFD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3665"/>
            <a:ext cx="10515600" cy="4633298"/>
          </a:xfrm>
        </p:spPr>
        <p:txBody>
          <a:bodyPr/>
          <a:lstStyle/>
          <a:p>
            <a:r>
              <a:rPr lang="en-US" dirty="0"/>
              <a:t>AES-256 is a symmetric encryption algorithm</a:t>
            </a:r>
          </a:p>
          <a:p>
            <a:r>
              <a:rPr lang="en-US" dirty="0"/>
              <a:t>Key size: </a:t>
            </a:r>
            <a:r>
              <a:rPr lang="en-US" b="1" dirty="0"/>
              <a:t>256-bit</a:t>
            </a:r>
            <a:r>
              <a:rPr lang="en-US" dirty="0"/>
              <a:t> (very strong security)</a:t>
            </a:r>
          </a:p>
          <a:p>
            <a:r>
              <a:rPr lang="en-US" dirty="0"/>
              <a:t>Used in:</a:t>
            </a:r>
          </a:p>
          <a:p>
            <a:pPr marL="0" indent="0">
              <a:buNone/>
            </a:pPr>
            <a:r>
              <a:rPr lang="en-US" dirty="0"/>
              <a:t>           Banking systems</a:t>
            </a:r>
          </a:p>
          <a:p>
            <a:pPr marL="0" indent="0">
              <a:buNone/>
            </a:pPr>
            <a:r>
              <a:rPr lang="en-US" dirty="0"/>
              <a:t>           Military communication</a:t>
            </a:r>
          </a:p>
          <a:p>
            <a:pPr marL="0" indent="0">
              <a:buNone/>
            </a:pPr>
            <a:r>
              <a:rPr lang="en-US" dirty="0"/>
              <a:t>           Secure messaging apps</a:t>
            </a:r>
          </a:p>
        </p:txBody>
      </p:sp>
    </p:spTree>
    <p:extLst>
      <p:ext uri="{BB962C8B-B14F-4D97-AF65-F5344CB8AC3E}">
        <p14:creationId xmlns:p14="http://schemas.microsoft.com/office/powerpoint/2010/main" val="19145868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977A50-1F05-99ED-2483-2DA98CC2B5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88257"/>
            <a:ext cx="10515600" cy="548870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Advantages for using AES-256:</a:t>
            </a:r>
          </a:p>
          <a:p>
            <a:r>
              <a:rPr lang="en-US" dirty="0"/>
              <a:t>Fast and efficient.</a:t>
            </a:r>
          </a:p>
          <a:p>
            <a:r>
              <a:rPr lang="en-US" dirty="0"/>
              <a:t>Highly secure.</a:t>
            </a:r>
          </a:p>
          <a:p>
            <a:r>
              <a:rPr lang="en-US" dirty="0"/>
              <a:t>Resistance to brute-force attacks.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Best choice for message encryption.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118238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1CB3D-F9C7-256F-4D4A-75E5613BD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8156"/>
            <a:ext cx="10515600" cy="1297858"/>
          </a:xfrm>
        </p:spPr>
        <p:txBody>
          <a:bodyPr/>
          <a:lstStyle/>
          <a:p>
            <a:r>
              <a:rPr lang="en-US" dirty="0"/>
              <a:t>Sender-Side Process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1CDBEC-AD91-4F36-9988-2CADF1F0C0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6014"/>
            <a:ext cx="10515600" cy="4770949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en-US" dirty="0"/>
              <a:t>Enter message and recipient</a:t>
            </a:r>
          </a:p>
          <a:p>
            <a:pPr marL="514350" indent="-514350">
              <a:buAutoNum type="arabicPeriod"/>
            </a:pPr>
            <a:r>
              <a:rPr lang="en-US" dirty="0"/>
              <a:t>AI checks:</a:t>
            </a:r>
          </a:p>
          <a:p>
            <a:pPr marL="0" indent="0">
              <a:buNone/>
            </a:pPr>
            <a:r>
              <a:rPr lang="en-US" dirty="0"/>
              <a:t>                (i) Weak Password</a:t>
            </a:r>
          </a:p>
          <a:p>
            <a:pPr marL="0" indent="0">
              <a:buNone/>
            </a:pPr>
            <a:r>
              <a:rPr lang="en-US" dirty="0"/>
              <a:t>                (ii) Sensitive content</a:t>
            </a:r>
          </a:p>
          <a:p>
            <a:pPr marL="0" indent="0">
              <a:buNone/>
            </a:pPr>
            <a:r>
              <a:rPr lang="en-US" dirty="0"/>
              <a:t>                (iii) Invalid recipient</a:t>
            </a:r>
          </a:p>
          <a:p>
            <a:pPr marL="0" indent="0">
              <a:buNone/>
            </a:pPr>
            <a:r>
              <a:rPr lang="en-US" dirty="0"/>
              <a:t>3. Generate AES-256 key</a:t>
            </a:r>
          </a:p>
          <a:p>
            <a:pPr marL="0" indent="0">
              <a:buNone/>
            </a:pPr>
            <a:r>
              <a:rPr lang="en-US" dirty="0"/>
              <a:t>4. Encrypt message</a:t>
            </a:r>
          </a:p>
          <a:p>
            <a:pPr marL="0" indent="0">
              <a:buNone/>
            </a:pPr>
            <a:r>
              <a:rPr lang="en-US" dirty="0"/>
              <a:t>5.Generate integrity hash</a:t>
            </a:r>
          </a:p>
          <a:p>
            <a:pPr marL="0" indent="0">
              <a:buNone/>
            </a:pPr>
            <a:r>
              <a:rPr lang="en-US" dirty="0"/>
              <a:t>6. Send encrypted message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537950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C7258-F0DA-2283-1A29-6C5B6C611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67148"/>
            <a:ext cx="10773697" cy="1076535"/>
          </a:xfrm>
        </p:spPr>
        <p:txBody>
          <a:bodyPr/>
          <a:lstStyle/>
          <a:p>
            <a:r>
              <a:rPr lang="en-US" dirty="0"/>
              <a:t>Flow of Message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3D8A47-9732-9EF9-9280-43B37E7D28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6013"/>
            <a:ext cx="10515600" cy="477095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                                  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4B510C-64BA-2C63-879A-1271AD997F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2930" y="167148"/>
            <a:ext cx="4426475" cy="6588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74819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E4698-56A0-102E-FA1B-A44D0447D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450"/>
            <a:ext cx="10515600" cy="971550"/>
          </a:xfrm>
        </p:spPr>
        <p:txBody>
          <a:bodyPr/>
          <a:lstStyle/>
          <a:p>
            <a:pPr algn="ctr"/>
            <a:r>
              <a:rPr lang="en-US" dirty="0"/>
              <a:t>Warning Detection &amp; Response Mechanism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F44D714-DE56-CB5A-C8A7-765A96A862F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78412467"/>
              </p:ext>
            </p:extLst>
          </p:nvPr>
        </p:nvGraphicFramePr>
        <p:xfrm>
          <a:off x="1285874" y="1143001"/>
          <a:ext cx="9372601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149476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91A95-3310-5F9C-D70B-F796A27D6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8156"/>
            <a:ext cx="10515600" cy="983226"/>
          </a:xfrm>
        </p:spPr>
        <p:txBody>
          <a:bodyPr/>
          <a:lstStyle/>
          <a:p>
            <a:pPr algn="ctr"/>
            <a:r>
              <a:rPr lang="en-US" dirty="0"/>
              <a:t>Anomaly List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45BA0E-4CED-1688-71EF-C6E6255425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1"/>
            <a:ext cx="10515600" cy="50855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AI detects the following issues:</a:t>
            </a:r>
          </a:p>
          <a:p>
            <a:r>
              <a:rPr lang="en-IN" dirty="0"/>
              <a:t>Weak or predictable cryptographic keys</a:t>
            </a:r>
          </a:p>
          <a:p>
            <a:r>
              <a:rPr lang="en-IN" dirty="0"/>
              <a:t>Use of insecure algorithms (DES, RC4, MD5, SHA-1)</a:t>
            </a:r>
          </a:p>
          <a:p>
            <a:r>
              <a:rPr lang="en-IN" dirty="0"/>
              <a:t>Unusual access to key vaults</a:t>
            </a:r>
          </a:p>
          <a:p>
            <a:r>
              <a:rPr lang="en-IN" dirty="0"/>
              <a:t>Sudden spikes in decryption failures</a:t>
            </a:r>
          </a:p>
          <a:p>
            <a:r>
              <a:rPr lang="en-IN" dirty="0"/>
              <a:t>Unauthorized system access attempts</a:t>
            </a:r>
          </a:p>
          <a:p>
            <a:r>
              <a:rPr lang="en-IN" dirty="0"/>
              <a:t>Abnormal file encryption patterns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87451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C9FAE-C685-2942-D3D4-216A6AC18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B33A6-B209-82E0-3AC4-ED0F2117C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7148"/>
            <a:ext cx="10515600" cy="1170040"/>
          </a:xfrm>
        </p:spPr>
        <p:txBody>
          <a:bodyPr/>
          <a:lstStyle/>
          <a:p>
            <a:pPr algn="ctr"/>
            <a:r>
              <a:rPr lang="en-IN" dirty="0"/>
              <a:t>Result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7D4913-00D1-0B0F-38B7-C226FBBC33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4168"/>
            <a:ext cx="10515600" cy="4662795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Secure message transmission achieved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Human errors reduced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Real-time detection working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System improves cybersecurity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456711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CBE60-0F12-878C-2349-BD66FF2E1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7653"/>
            <a:ext cx="10515600" cy="1081547"/>
          </a:xfrm>
        </p:spPr>
        <p:txBody>
          <a:bodyPr/>
          <a:lstStyle/>
          <a:p>
            <a:pPr algn="ctr"/>
            <a:r>
              <a:rPr lang="en-US" dirty="0"/>
              <a:t>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07F1DA-FC24-7D90-27FB-712F56DC31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7019"/>
            <a:ext cx="10515600" cy="4829944"/>
          </a:xfrm>
        </p:spPr>
        <p:txBody>
          <a:bodyPr/>
          <a:lstStyle/>
          <a:p>
            <a:r>
              <a:rPr lang="en-US" dirty="0"/>
              <a:t>Cryptography alone is not enough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Human errors are major vulnerabilities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AI + AES-256 improves security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System provides proactive protection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781121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66CBD-FC59-BE59-2070-B5315E2C8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7653"/>
            <a:ext cx="10515600" cy="1081547"/>
          </a:xfrm>
        </p:spPr>
        <p:txBody>
          <a:bodyPr/>
          <a:lstStyle/>
          <a:p>
            <a:pPr algn="ctr"/>
            <a:r>
              <a:rPr lang="en-IN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3E25AA-71BA-D0F6-3993-32491BD06D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6684"/>
            <a:ext cx="10515600" cy="4810279"/>
          </a:xfrm>
        </p:spPr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To design a secure messaging system using AES-256.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To detect human errors using AI.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To provide real-time warnings.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To improve secure communication.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470978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19452-3000-DF4A-F633-2C06CB0E4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8491"/>
            <a:ext cx="10515600" cy="1140541"/>
          </a:xfrm>
        </p:spPr>
        <p:txBody>
          <a:bodyPr/>
          <a:lstStyle/>
          <a:p>
            <a:pPr algn="ctr"/>
            <a:r>
              <a:rPr lang="en-US" dirty="0"/>
              <a:t>Outcome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6084D1-BF8A-599C-4DEE-5FD15C78EC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6181"/>
            <a:ext cx="10515600" cy="4780782"/>
          </a:xfrm>
        </p:spPr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Working prototype developed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Can be extended to real-world system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Suitable for:</a:t>
            </a:r>
          </a:p>
          <a:p>
            <a:pPr marL="0" indent="0">
              <a:buNone/>
            </a:pPr>
            <a:r>
              <a:rPr lang="en-US" dirty="0"/>
              <a:t>        Research paper</a:t>
            </a:r>
          </a:p>
          <a:p>
            <a:pPr marL="0" indent="0">
              <a:buNone/>
            </a:pPr>
            <a:r>
              <a:rPr lang="en-US" dirty="0"/>
              <a:t>        Deployment</a:t>
            </a:r>
          </a:p>
          <a:p>
            <a:pPr marL="0" indent="0">
              <a:buNone/>
            </a:pPr>
            <a:r>
              <a:rPr lang="en-US" dirty="0"/>
              <a:t>        Further innovation</a:t>
            </a:r>
          </a:p>
        </p:txBody>
      </p:sp>
    </p:spTree>
    <p:extLst>
      <p:ext uri="{BB962C8B-B14F-4D97-AF65-F5344CB8AC3E}">
        <p14:creationId xmlns:p14="http://schemas.microsoft.com/office/powerpoint/2010/main" val="21549569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C5325-4A51-AE05-7BE6-440D74D0B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6477"/>
            <a:ext cx="10515600" cy="1150375"/>
          </a:xfrm>
        </p:spPr>
        <p:txBody>
          <a:bodyPr/>
          <a:lstStyle/>
          <a:p>
            <a:pPr algn="ctr"/>
            <a:r>
              <a:rPr lang="en-IN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188C38-4C0A-7C78-2FF6-39EB62252E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4000"/>
            <a:ext cx="10515600" cy="4652963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A. Kahate, Cryptography and Network Security, McGraw Hill, 2011.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W. Stallings, Cryptography and Network Security, 6th Ed., Pearson.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Schneier, Applied Cryptography, Wiley.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Anderson, Security Engineering, Wiley.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Forouzan, Cryptography and Network Security, McGraw-Hill.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Stallings, Network Security Essentials, Pearson.</a:t>
            </a:r>
          </a:p>
        </p:txBody>
      </p:sp>
    </p:spTree>
    <p:extLst>
      <p:ext uri="{BB962C8B-B14F-4D97-AF65-F5344CB8AC3E}">
        <p14:creationId xmlns:p14="http://schemas.microsoft.com/office/powerpoint/2010/main" val="27249175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7208BD6-2A31-5677-2B53-FD39A887D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18467"/>
            <a:ext cx="5257800" cy="1325563"/>
          </a:xfrm>
        </p:spPr>
        <p:txBody>
          <a:bodyPr/>
          <a:lstStyle/>
          <a:p>
            <a:r>
              <a:rPr lang="en-IN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3747106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</TotalTime>
  <Words>544</Words>
  <Application>Microsoft Office PowerPoint</Application>
  <PresentationFormat>Widescreen</PresentationFormat>
  <Paragraphs>121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</vt:lpstr>
      <vt:lpstr>Aptos Display</vt:lpstr>
      <vt:lpstr>Arial</vt:lpstr>
      <vt:lpstr>Wingdings</vt:lpstr>
      <vt:lpstr>Office Theme</vt:lpstr>
      <vt:lpstr>AI-Assisted Secure Messaging System</vt:lpstr>
      <vt:lpstr>Outline</vt:lpstr>
      <vt:lpstr>Introduction</vt:lpstr>
      <vt:lpstr>Literature Review</vt:lpstr>
      <vt:lpstr>PowerPoint Presentation</vt:lpstr>
      <vt:lpstr>Problem Statement</vt:lpstr>
      <vt:lpstr>Proposed Methodology</vt:lpstr>
      <vt:lpstr>System Architecture</vt:lpstr>
      <vt:lpstr>Algorithm Selection</vt:lpstr>
      <vt:lpstr>PowerPoint Presentation</vt:lpstr>
      <vt:lpstr>Sender-Side Process</vt:lpstr>
      <vt:lpstr>Flow of Message</vt:lpstr>
      <vt:lpstr>Warning Detection &amp; Response Mechanism</vt:lpstr>
      <vt:lpstr>Anomaly List</vt:lpstr>
      <vt:lpstr>Result </vt:lpstr>
      <vt:lpstr>Conclusion</vt:lpstr>
      <vt:lpstr>Objectives</vt:lpstr>
      <vt:lpstr>Outcome 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Akshay Jadhav [MU - Jaipur]</dc:creator>
  <cp:lastModifiedBy>Keshav Khandelwal</cp:lastModifiedBy>
  <cp:revision>24</cp:revision>
  <dcterms:created xsi:type="dcterms:W3CDTF">2025-09-29T05:03:41Z</dcterms:created>
  <dcterms:modified xsi:type="dcterms:W3CDTF">2026-04-10T07:32:58Z</dcterms:modified>
</cp:coreProperties>
</file>