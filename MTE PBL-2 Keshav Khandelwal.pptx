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61" r:id="rId9"/>
    <p:sldId id="268" r:id="rId10"/>
    <p:sldId id="269" r:id="rId11"/>
    <p:sldId id="262" r:id="rId12"/>
    <p:sldId id="266" r:id="rId13"/>
    <p:sldId id="267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412694-0AAB-42C6-BE88-25A3476E38C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BCBC949-BCD6-425A-BAB5-F6A5AA16505A}">
      <dgm:prSet phldrT="[Text]" phldr="0"/>
      <dgm:spPr/>
      <dgm:t>
        <a:bodyPr/>
        <a:lstStyle/>
        <a:p>
          <a:r>
            <a:rPr lang="en-US" dirty="0"/>
            <a:t>Warning</a:t>
          </a:r>
          <a:endParaRPr lang="en-IN" dirty="0"/>
        </a:p>
      </dgm:t>
    </dgm:pt>
    <dgm:pt modelId="{D9C8DAA3-90F9-49F3-A74E-187518F27125}" type="parTrans" cxnId="{DD1736F8-028F-4A17-BAC8-1BB025A33074}">
      <dgm:prSet/>
      <dgm:spPr/>
      <dgm:t>
        <a:bodyPr/>
        <a:lstStyle/>
        <a:p>
          <a:endParaRPr lang="en-IN"/>
        </a:p>
      </dgm:t>
    </dgm:pt>
    <dgm:pt modelId="{B42C2528-E751-4A20-BAA2-843B47377D47}" type="sibTrans" cxnId="{DD1736F8-028F-4A17-BAC8-1BB025A33074}">
      <dgm:prSet/>
      <dgm:spPr/>
      <dgm:t>
        <a:bodyPr/>
        <a:lstStyle/>
        <a:p>
          <a:endParaRPr lang="en-IN"/>
        </a:p>
      </dgm:t>
    </dgm:pt>
    <dgm:pt modelId="{0A6F38F8-EEFC-4B63-B2D8-FF9986F1BD73}">
      <dgm:prSet phldrT="[Text]" phldr="0"/>
      <dgm:spPr/>
      <dgm:t>
        <a:bodyPr/>
        <a:lstStyle/>
        <a:p>
          <a:r>
            <a:rPr lang="en-US" dirty="0"/>
            <a:t>AI Detection</a:t>
          </a:r>
          <a:endParaRPr lang="en-IN" dirty="0"/>
        </a:p>
      </dgm:t>
    </dgm:pt>
    <dgm:pt modelId="{66384269-643C-4696-A405-4CE5B115079F}" type="parTrans" cxnId="{C45FAA76-B925-4303-B350-8E388F0266BC}">
      <dgm:prSet/>
      <dgm:spPr/>
      <dgm:t>
        <a:bodyPr/>
        <a:lstStyle/>
        <a:p>
          <a:endParaRPr lang="en-IN"/>
        </a:p>
      </dgm:t>
    </dgm:pt>
    <dgm:pt modelId="{81915E27-805C-48BF-9C48-45B07A8C9D62}" type="sibTrans" cxnId="{C45FAA76-B925-4303-B350-8E388F0266BC}">
      <dgm:prSet/>
      <dgm:spPr/>
      <dgm:t>
        <a:bodyPr/>
        <a:lstStyle/>
        <a:p>
          <a:endParaRPr lang="en-IN"/>
        </a:p>
      </dgm:t>
    </dgm:pt>
    <dgm:pt modelId="{15FE7DE1-C229-4C58-BCB3-92433F8F7EF1}">
      <dgm:prSet phldrT="[Text]" phldr="0"/>
      <dgm:spPr/>
      <dgm:t>
        <a:bodyPr/>
        <a:lstStyle/>
        <a:p>
          <a:r>
            <a:rPr lang="en-US" dirty="0"/>
            <a:t>System Response</a:t>
          </a:r>
          <a:endParaRPr lang="en-IN" dirty="0"/>
        </a:p>
      </dgm:t>
    </dgm:pt>
    <dgm:pt modelId="{35BFD071-1846-409B-AC0F-40D0AC4E871F}" type="parTrans" cxnId="{1E6E2C4F-808E-44EB-8935-95461169FE43}">
      <dgm:prSet/>
      <dgm:spPr/>
      <dgm:t>
        <a:bodyPr/>
        <a:lstStyle/>
        <a:p>
          <a:endParaRPr lang="en-IN"/>
        </a:p>
      </dgm:t>
    </dgm:pt>
    <dgm:pt modelId="{4447FC0E-678D-401A-B98D-03BA96CC44F2}" type="sibTrans" cxnId="{1E6E2C4F-808E-44EB-8935-95461169FE43}">
      <dgm:prSet/>
      <dgm:spPr/>
      <dgm:t>
        <a:bodyPr/>
        <a:lstStyle/>
        <a:p>
          <a:endParaRPr lang="en-IN"/>
        </a:p>
      </dgm:t>
    </dgm:pt>
    <dgm:pt modelId="{14DC6668-1E8E-41B1-93B1-5DA0A8EC2757}">
      <dgm:prSet/>
      <dgm:spPr/>
      <dgm:t>
        <a:bodyPr/>
        <a:lstStyle/>
        <a:p>
          <a:r>
            <a:rPr lang="en-US" dirty="0"/>
            <a:t>Suspicious Pattern</a:t>
          </a:r>
          <a:endParaRPr lang="en-IN" dirty="0"/>
        </a:p>
      </dgm:t>
    </dgm:pt>
    <dgm:pt modelId="{EB4A827E-D82E-4D4A-BF37-899EDDD3FA38}" type="parTrans" cxnId="{5E5F46A5-18DA-4DEB-9430-967F676C3765}">
      <dgm:prSet/>
      <dgm:spPr/>
      <dgm:t>
        <a:bodyPr/>
        <a:lstStyle/>
        <a:p>
          <a:endParaRPr lang="en-IN"/>
        </a:p>
      </dgm:t>
    </dgm:pt>
    <dgm:pt modelId="{FE9CACAE-E9A0-470B-94D7-4B0734742348}" type="sibTrans" cxnId="{5E5F46A5-18DA-4DEB-9430-967F676C3765}">
      <dgm:prSet/>
      <dgm:spPr/>
      <dgm:t>
        <a:bodyPr/>
        <a:lstStyle/>
        <a:p>
          <a:endParaRPr lang="en-IN"/>
        </a:p>
      </dgm:t>
    </dgm:pt>
    <dgm:pt modelId="{4EB4769A-177E-4CA1-A69D-953638363F64}" type="pres">
      <dgm:prSet presAssocID="{41412694-0AAB-42C6-BE88-25A3476E38C3}" presName="CompostProcess" presStyleCnt="0">
        <dgm:presLayoutVars>
          <dgm:dir/>
          <dgm:resizeHandles val="exact"/>
        </dgm:presLayoutVars>
      </dgm:prSet>
      <dgm:spPr/>
    </dgm:pt>
    <dgm:pt modelId="{BECEE977-8882-4D15-BE55-36BD4E4F8BBC}" type="pres">
      <dgm:prSet presAssocID="{41412694-0AAB-42C6-BE88-25A3476E38C3}" presName="arrow" presStyleLbl="bgShp" presStyleIdx="0" presStyleCnt="1"/>
      <dgm:spPr/>
    </dgm:pt>
    <dgm:pt modelId="{F9A79D9E-0EDC-40D4-96D5-66C46AA21447}" type="pres">
      <dgm:prSet presAssocID="{41412694-0AAB-42C6-BE88-25A3476E38C3}" presName="linearProcess" presStyleCnt="0"/>
      <dgm:spPr/>
    </dgm:pt>
    <dgm:pt modelId="{D1192C2E-9CBC-4A68-BB9C-A756AFB533F9}" type="pres">
      <dgm:prSet presAssocID="{2BCBC949-BCD6-425A-BAB5-F6A5AA16505A}" presName="textNode" presStyleLbl="node1" presStyleIdx="0" presStyleCnt="4">
        <dgm:presLayoutVars>
          <dgm:bulletEnabled val="1"/>
        </dgm:presLayoutVars>
      </dgm:prSet>
      <dgm:spPr/>
    </dgm:pt>
    <dgm:pt modelId="{1AA0A9A4-CAA5-48F8-96E3-69782A645C9F}" type="pres">
      <dgm:prSet presAssocID="{B42C2528-E751-4A20-BAA2-843B47377D47}" presName="sibTrans" presStyleCnt="0"/>
      <dgm:spPr/>
    </dgm:pt>
    <dgm:pt modelId="{2228DBDF-9905-4B30-BDD5-CD6461A30FDD}" type="pres">
      <dgm:prSet presAssocID="{14DC6668-1E8E-41B1-93B1-5DA0A8EC2757}" presName="textNode" presStyleLbl="node1" presStyleIdx="1" presStyleCnt="4">
        <dgm:presLayoutVars>
          <dgm:bulletEnabled val="1"/>
        </dgm:presLayoutVars>
      </dgm:prSet>
      <dgm:spPr/>
    </dgm:pt>
    <dgm:pt modelId="{356CAF6B-BD1C-4252-A9F4-3745B484ECD6}" type="pres">
      <dgm:prSet presAssocID="{FE9CACAE-E9A0-470B-94D7-4B0734742348}" presName="sibTrans" presStyleCnt="0"/>
      <dgm:spPr/>
    </dgm:pt>
    <dgm:pt modelId="{89A0E60D-20E7-4545-8BAC-E914439CEBA5}" type="pres">
      <dgm:prSet presAssocID="{0A6F38F8-EEFC-4B63-B2D8-FF9986F1BD73}" presName="textNode" presStyleLbl="node1" presStyleIdx="2" presStyleCnt="4">
        <dgm:presLayoutVars>
          <dgm:bulletEnabled val="1"/>
        </dgm:presLayoutVars>
      </dgm:prSet>
      <dgm:spPr/>
    </dgm:pt>
    <dgm:pt modelId="{35275952-D82C-401B-9144-FDFC971D64A3}" type="pres">
      <dgm:prSet presAssocID="{81915E27-805C-48BF-9C48-45B07A8C9D62}" presName="sibTrans" presStyleCnt="0"/>
      <dgm:spPr/>
    </dgm:pt>
    <dgm:pt modelId="{E633CD08-A90E-44C2-ACBE-AD69E3120994}" type="pres">
      <dgm:prSet presAssocID="{15FE7DE1-C229-4C58-BCB3-92433F8F7EF1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0F19052B-9FE3-42D5-B1A8-524D49E7023D}" type="presOf" srcId="{41412694-0AAB-42C6-BE88-25A3476E38C3}" destId="{4EB4769A-177E-4CA1-A69D-953638363F64}" srcOrd="0" destOrd="0" presId="urn:microsoft.com/office/officeart/2005/8/layout/hProcess9"/>
    <dgm:cxn modelId="{1E6E2C4F-808E-44EB-8935-95461169FE43}" srcId="{41412694-0AAB-42C6-BE88-25A3476E38C3}" destId="{15FE7DE1-C229-4C58-BCB3-92433F8F7EF1}" srcOrd="3" destOrd="0" parTransId="{35BFD071-1846-409B-AC0F-40D0AC4E871F}" sibTransId="{4447FC0E-678D-401A-B98D-03BA96CC44F2}"/>
    <dgm:cxn modelId="{C45FAA76-B925-4303-B350-8E388F0266BC}" srcId="{41412694-0AAB-42C6-BE88-25A3476E38C3}" destId="{0A6F38F8-EEFC-4B63-B2D8-FF9986F1BD73}" srcOrd="2" destOrd="0" parTransId="{66384269-643C-4696-A405-4CE5B115079F}" sibTransId="{81915E27-805C-48BF-9C48-45B07A8C9D62}"/>
    <dgm:cxn modelId="{F306338B-B102-41CE-89F5-FE1707746CE7}" type="presOf" srcId="{15FE7DE1-C229-4C58-BCB3-92433F8F7EF1}" destId="{E633CD08-A90E-44C2-ACBE-AD69E3120994}" srcOrd="0" destOrd="0" presId="urn:microsoft.com/office/officeart/2005/8/layout/hProcess9"/>
    <dgm:cxn modelId="{C4402A9B-4981-48FF-99FB-5E366E2AE83F}" type="presOf" srcId="{0A6F38F8-EEFC-4B63-B2D8-FF9986F1BD73}" destId="{89A0E60D-20E7-4545-8BAC-E914439CEBA5}" srcOrd="0" destOrd="0" presId="urn:microsoft.com/office/officeart/2005/8/layout/hProcess9"/>
    <dgm:cxn modelId="{E8DAF3A2-FAAD-4E38-B181-3222C7E96D11}" type="presOf" srcId="{14DC6668-1E8E-41B1-93B1-5DA0A8EC2757}" destId="{2228DBDF-9905-4B30-BDD5-CD6461A30FDD}" srcOrd="0" destOrd="0" presId="urn:microsoft.com/office/officeart/2005/8/layout/hProcess9"/>
    <dgm:cxn modelId="{5E5F46A5-18DA-4DEB-9430-967F676C3765}" srcId="{41412694-0AAB-42C6-BE88-25A3476E38C3}" destId="{14DC6668-1E8E-41B1-93B1-5DA0A8EC2757}" srcOrd="1" destOrd="0" parTransId="{EB4A827E-D82E-4D4A-BF37-899EDDD3FA38}" sibTransId="{FE9CACAE-E9A0-470B-94D7-4B0734742348}"/>
    <dgm:cxn modelId="{D1B761EA-1206-4DE3-BB93-8A7EBA414EF5}" type="presOf" srcId="{2BCBC949-BCD6-425A-BAB5-F6A5AA16505A}" destId="{D1192C2E-9CBC-4A68-BB9C-A756AFB533F9}" srcOrd="0" destOrd="0" presId="urn:microsoft.com/office/officeart/2005/8/layout/hProcess9"/>
    <dgm:cxn modelId="{DD1736F8-028F-4A17-BAC8-1BB025A33074}" srcId="{41412694-0AAB-42C6-BE88-25A3476E38C3}" destId="{2BCBC949-BCD6-425A-BAB5-F6A5AA16505A}" srcOrd="0" destOrd="0" parTransId="{D9C8DAA3-90F9-49F3-A74E-187518F27125}" sibTransId="{B42C2528-E751-4A20-BAA2-843B47377D47}"/>
    <dgm:cxn modelId="{5A313FFC-010B-477C-853E-26A64E05E486}" type="presParOf" srcId="{4EB4769A-177E-4CA1-A69D-953638363F64}" destId="{BECEE977-8882-4D15-BE55-36BD4E4F8BBC}" srcOrd="0" destOrd="0" presId="urn:microsoft.com/office/officeart/2005/8/layout/hProcess9"/>
    <dgm:cxn modelId="{F332E0E2-786C-4E94-950C-480398B5F0DB}" type="presParOf" srcId="{4EB4769A-177E-4CA1-A69D-953638363F64}" destId="{F9A79D9E-0EDC-40D4-96D5-66C46AA21447}" srcOrd="1" destOrd="0" presId="urn:microsoft.com/office/officeart/2005/8/layout/hProcess9"/>
    <dgm:cxn modelId="{56565B85-F7C3-47F4-8DA5-4B314D4BDD83}" type="presParOf" srcId="{F9A79D9E-0EDC-40D4-96D5-66C46AA21447}" destId="{D1192C2E-9CBC-4A68-BB9C-A756AFB533F9}" srcOrd="0" destOrd="0" presId="urn:microsoft.com/office/officeart/2005/8/layout/hProcess9"/>
    <dgm:cxn modelId="{5FF68A1A-1A26-48B4-943C-D5C596DCCED7}" type="presParOf" srcId="{F9A79D9E-0EDC-40D4-96D5-66C46AA21447}" destId="{1AA0A9A4-CAA5-48F8-96E3-69782A645C9F}" srcOrd="1" destOrd="0" presId="urn:microsoft.com/office/officeart/2005/8/layout/hProcess9"/>
    <dgm:cxn modelId="{39AA5FFF-E096-47C3-9C9B-2ED1C35CE311}" type="presParOf" srcId="{F9A79D9E-0EDC-40D4-96D5-66C46AA21447}" destId="{2228DBDF-9905-4B30-BDD5-CD6461A30FDD}" srcOrd="2" destOrd="0" presId="urn:microsoft.com/office/officeart/2005/8/layout/hProcess9"/>
    <dgm:cxn modelId="{2B6538C2-7620-4F89-99E4-EEBA7CB25E86}" type="presParOf" srcId="{F9A79D9E-0EDC-40D4-96D5-66C46AA21447}" destId="{356CAF6B-BD1C-4252-A9F4-3745B484ECD6}" srcOrd="3" destOrd="0" presId="urn:microsoft.com/office/officeart/2005/8/layout/hProcess9"/>
    <dgm:cxn modelId="{7BDDC7FD-1655-4D8A-9CF7-083866EB7894}" type="presParOf" srcId="{F9A79D9E-0EDC-40D4-96D5-66C46AA21447}" destId="{89A0E60D-20E7-4545-8BAC-E914439CEBA5}" srcOrd="4" destOrd="0" presId="urn:microsoft.com/office/officeart/2005/8/layout/hProcess9"/>
    <dgm:cxn modelId="{37D8A43C-3101-4203-9D9C-604BCB1F4691}" type="presParOf" srcId="{F9A79D9E-0EDC-40D4-96D5-66C46AA21447}" destId="{35275952-D82C-401B-9144-FDFC971D64A3}" srcOrd="5" destOrd="0" presId="urn:microsoft.com/office/officeart/2005/8/layout/hProcess9"/>
    <dgm:cxn modelId="{1FF4E476-DE9F-4112-8804-972064873707}" type="presParOf" srcId="{F9A79D9E-0EDC-40D4-96D5-66C46AA21447}" destId="{E633CD08-A90E-44C2-ACBE-AD69E312099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EE977-8882-4D15-BE55-36BD4E4F8BBC}">
      <dsp:nvSpPr>
        <dsp:cNvPr id="0" name=""/>
        <dsp:cNvSpPr/>
      </dsp:nvSpPr>
      <dsp:spPr>
        <a:xfrm>
          <a:off x="702945" y="0"/>
          <a:ext cx="7966710" cy="4572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92C2E-9CBC-4A68-BB9C-A756AFB533F9}">
      <dsp:nvSpPr>
        <dsp:cNvPr id="0" name=""/>
        <dsp:cNvSpPr/>
      </dsp:nvSpPr>
      <dsp:spPr>
        <a:xfrm>
          <a:off x="1061" y="1371599"/>
          <a:ext cx="2236388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Warning</a:t>
          </a:r>
          <a:endParaRPr lang="en-IN" sz="3000" kern="1200" dirty="0"/>
        </a:p>
      </dsp:txBody>
      <dsp:txXfrm>
        <a:off x="90336" y="1460874"/>
        <a:ext cx="2057838" cy="1650250"/>
      </dsp:txXfrm>
    </dsp:sp>
    <dsp:sp modelId="{2228DBDF-9905-4B30-BDD5-CD6461A30FDD}">
      <dsp:nvSpPr>
        <dsp:cNvPr id="0" name=""/>
        <dsp:cNvSpPr/>
      </dsp:nvSpPr>
      <dsp:spPr>
        <a:xfrm>
          <a:off x="2379091" y="1371599"/>
          <a:ext cx="2236388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Suspicious Pattern</a:t>
          </a:r>
          <a:endParaRPr lang="en-IN" sz="3000" kern="1200" dirty="0"/>
        </a:p>
      </dsp:txBody>
      <dsp:txXfrm>
        <a:off x="2468366" y="1460874"/>
        <a:ext cx="2057838" cy="1650250"/>
      </dsp:txXfrm>
    </dsp:sp>
    <dsp:sp modelId="{89A0E60D-20E7-4545-8BAC-E914439CEBA5}">
      <dsp:nvSpPr>
        <dsp:cNvPr id="0" name=""/>
        <dsp:cNvSpPr/>
      </dsp:nvSpPr>
      <dsp:spPr>
        <a:xfrm>
          <a:off x="4757121" y="1371599"/>
          <a:ext cx="2236388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AI Detection</a:t>
          </a:r>
          <a:endParaRPr lang="en-IN" sz="3000" kern="1200" dirty="0"/>
        </a:p>
      </dsp:txBody>
      <dsp:txXfrm>
        <a:off x="4846396" y="1460874"/>
        <a:ext cx="2057838" cy="1650250"/>
      </dsp:txXfrm>
    </dsp:sp>
    <dsp:sp modelId="{E633CD08-A90E-44C2-ACBE-AD69E3120994}">
      <dsp:nvSpPr>
        <dsp:cNvPr id="0" name=""/>
        <dsp:cNvSpPr/>
      </dsp:nvSpPr>
      <dsp:spPr>
        <a:xfrm>
          <a:off x="7135151" y="1371599"/>
          <a:ext cx="2236388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System Response</a:t>
          </a:r>
          <a:endParaRPr lang="en-IN" sz="3000" kern="1200" dirty="0"/>
        </a:p>
      </dsp:txBody>
      <dsp:txXfrm>
        <a:off x="7224426" y="1460874"/>
        <a:ext cx="2057838" cy="1650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A</a:t>
            </a:r>
            <a:r>
              <a:rPr lang="en-IN" sz="4400" b="1" dirty="0"/>
              <a:t>I-Assisted Secure Messaging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Keshav Khandelwal</a:t>
            </a:r>
          </a:p>
          <a:p>
            <a:r>
              <a:rPr lang="en-IN" dirty="0"/>
              <a:t>2427030517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Rajat Goel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9"/>
            <a:ext cx="10515600" cy="1150373"/>
          </a:xfrm>
        </p:spPr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6"/>
            <a:ext cx="10515600" cy="482994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Secure messaging applications, despite using encryption, still depend on human decisions such as choosing passwords, verifying recipients, managing keys, and responding to security warnings.</a:t>
            </a:r>
          </a:p>
          <a:p>
            <a:pPr marL="0" indent="0">
              <a:buNone/>
            </a:pPr>
            <a:r>
              <a:rPr lang="en-IN" dirty="0"/>
              <a:t>The research proposes an AI-assisted secure messaging software that manages cryptographic operations, detects security errors, and provides real-time feedback to users, thereby significantly reducing the probability of security failures.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9"/>
            <a:ext cx="10515600" cy="1061883"/>
          </a:xfrm>
        </p:spPr>
        <p:txBody>
          <a:bodyPr/>
          <a:lstStyle/>
          <a:p>
            <a:pPr algn="ctr"/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Human Errors in Secure Communication System: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Cognitive Errors</a:t>
            </a:r>
            <a:r>
              <a:rPr lang="en-IN" dirty="0"/>
              <a:t> occur when users do not understand cryptographic concepts such as key strength, encryption modes.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Operational Errors</a:t>
            </a:r>
            <a:r>
              <a:rPr lang="en-IN" dirty="0"/>
              <a:t> include sending messages without encryption, reusing old keys, or ignoring system warnings.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Behavioral Errors</a:t>
            </a:r>
            <a:r>
              <a:rPr lang="en-IN" dirty="0"/>
              <a:t> include sending sensitive data to wrong recipient, accessing systems from insecure networks.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22C0B-A6C6-B52E-659E-393C6569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2955"/>
            <a:ext cx="10515600" cy="57640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Emergence of AI in Cybersecurity includes:</a:t>
            </a:r>
          </a:p>
          <a:p>
            <a:r>
              <a:rPr lang="en-US" dirty="0"/>
              <a:t>Behavior learning</a:t>
            </a:r>
          </a:p>
          <a:p>
            <a:r>
              <a:rPr lang="en-US" dirty="0"/>
              <a:t>Anomaly detection</a:t>
            </a:r>
          </a:p>
          <a:p>
            <a:r>
              <a:rPr lang="en-US" dirty="0"/>
              <a:t>Predictive alerts</a:t>
            </a:r>
          </a:p>
          <a:p>
            <a:r>
              <a:rPr lang="en-US" dirty="0"/>
              <a:t>Automated decision-making</a:t>
            </a:r>
          </a:p>
          <a:p>
            <a:r>
              <a:rPr lang="en-US" dirty="0"/>
              <a:t>Usable security</a:t>
            </a:r>
          </a:p>
        </p:txBody>
      </p:sp>
    </p:spTree>
    <p:extLst>
      <p:ext uri="{BB962C8B-B14F-4D97-AF65-F5344CB8AC3E}">
        <p14:creationId xmlns:p14="http://schemas.microsoft.com/office/powerpoint/2010/main" val="199797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7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24BB5-926C-49F1-11AF-6AC5AF8C7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150" y="643467"/>
            <a:ext cx="779170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5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is a need for an intelligence system that can proactively detect, prevent and correct security errors in secure communication.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987"/>
            <a:ext cx="10515600" cy="1297859"/>
          </a:xfrm>
        </p:spPr>
        <p:txBody>
          <a:bodyPr/>
          <a:lstStyle/>
          <a:p>
            <a:pPr algn="ctr"/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993"/>
            <a:ext cx="10515600" cy="459396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proposed solution is a AI-assisted secure messaging system that integrates cryptography with behavioral intelligence.</a:t>
            </a:r>
          </a:p>
          <a:p>
            <a:pPr marL="0" indent="0">
              <a:buNone/>
            </a:pPr>
            <a:r>
              <a:rPr lang="en-IN" dirty="0"/>
              <a:t>The system enforces security best practices while continuously monitoring user actions to detect deviations that may indicate errors or threats.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1A95-3310-5F9C-D70B-F796A27D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6"/>
            <a:ext cx="10515600" cy="983226"/>
          </a:xfrm>
        </p:spPr>
        <p:txBody>
          <a:bodyPr/>
          <a:lstStyle/>
          <a:p>
            <a:pPr algn="ctr"/>
            <a:r>
              <a:rPr lang="en-US" dirty="0"/>
              <a:t>Anomaly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BA0E-4CED-1688-71EF-C6E62554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AI detects the following issues:</a:t>
            </a:r>
          </a:p>
          <a:p>
            <a:r>
              <a:rPr lang="en-IN" dirty="0"/>
              <a:t>Weak or predictable cryptographic keys</a:t>
            </a:r>
          </a:p>
          <a:p>
            <a:r>
              <a:rPr lang="en-IN" dirty="0"/>
              <a:t>Hardcoded keys in source code</a:t>
            </a:r>
          </a:p>
          <a:p>
            <a:r>
              <a:rPr lang="en-IN" dirty="0"/>
              <a:t>Use of insecure algorithms (DES, RC4, MD5, SHA-1)</a:t>
            </a:r>
          </a:p>
          <a:p>
            <a:r>
              <a:rPr lang="en-IN" dirty="0"/>
              <a:t>Unsafe cipher modes (AES-ECB)</a:t>
            </a:r>
          </a:p>
          <a:p>
            <a:r>
              <a:rPr lang="en-IN" dirty="0"/>
              <a:t>Unusual access to key vaults</a:t>
            </a:r>
          </a:p>
          <a:p>
            <a:r>
              <a:rPr lang="en-IN" dirty="0"/>
              <a:t>Sudden spikes in decryption failures</a:t>
            </a:r>
          </a:p>
          <a:p>
            <a:r>
              <a:rPr lang="en-IN" dirty="0"/>
              <a:t>Suspicious TLS handshake behaviour</a:t>
            </a:r>
          </a:p>
          <a:p>
            <a:r>
              <a:rPr lang="en-IN" dirty="0"/>
              <a:t>Unauthorized system access attempts</a:t>
            </a:r>
          </a:p>
          <a:p>
            <a:r>
              <a:rPr lang="en-IN" dirty="0"/>
              <a:t>Abnormal file encryption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745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4698-56A0-102E-FA1B-A44D0447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971550"/>
          </a:xfrm>
        </p:spPr>
        <p:txBody>
          <a:bodyPr/>
          <a:lstStyle/>
          <a:p>
            <a:pPr algn="ctr"/>
            <a:r>
              <a:rPr lang="en-US" dirty="0"/>
              <a:t>Warning Detection &amp; Response Mechanism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44D714-DE56-CB5A-C8A7-765A96A86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412467"/>
              </p:ext>
            </p:extLst>
          </p:nvPr>
        </p:nvGraphicFramePr>
        <p:xfrm>
          <a:off x="1285874" y="1143001"/>
          <a:ext cx="9372601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4947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1081547"/>
          </a:xfrm>
        </p:spPr>
        <p:txBody>
          <a:bodyPr/>
          <a:lstStyle/>
          <a:p>
            <a:pPr algn="ctr"/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 design an AI-assisted secure messaging framework.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 improve usability and reliability of secure communication.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 analyze human and implementation errors.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 develop an intelligent warning and prevention mechanism.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8"/>
            <a:ext cx="10515600" cy="1170040"/>
          </a:xfrm>
        </p:spPr>
        <p:txBody>
          <a:bodyPr/>
          <a:lstStyle/>
          <a:p>
            <a:pPr algn="ctr"/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627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IN" dirty="0"/>
              <a:t>he result aim to demonstrate reduced human-caused security errors, improved usability of cryptographic communication, and enhanced proactive cybersecurity through AI-driven anomaly detection.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1140541"/>
          </a:xfrm>
        </p:spPr>
        <p:txBody>
          <a:bodyPr/>
          <a:lstStyle/>
          <a:p>
            <a:pPr algn="ctr"/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project will deliver an AI-assisted secure messaging prototype capable of early detection of suspicious patterns and security errors, generating real-time security warnings.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477"/>
            <a:ext cx="10515600" cy="1150375"/>
          </a:xfrm>
        </p:spPr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A. Kahate, Cryptography and Network Security, McGraw Hill, 2011.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W. Stallings, Cryptography and Network Security, 6th Ed., Pearson.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Schneier, Applied Cryptography, Wiley.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Anderson, Security Engineering, Wiley.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Forouzan, Cryptography and Network Security, McGraw-Hill.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Stallings, Network Security Essentials, Pearson.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466</Words>
  <Application>Microsoft Office PowerPoint</Application>
  <PresentationFormat>Widescreen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AI-Assisted Secure Messaging System</vt:lpstr>
      <vt:lpstr>Outline</vt:lpstr>
      <vt:lpstr>Introduction</vt:lpstr>
      <vt:lpstr>Literature Review</vt:lpstr>
      <vt:lpstr>PowerPoint Presentation</vt:lpstr>
      <vt:lpstr>PowerPoint Presentation</vt:lpstr>
      <vt:lpstr>Problem Statement</vt:lpstr>
      <vt:lpstr>Proposed Methodology</vt:lpstr>
      <vt:lpstr>Anomaly List</vt:lpstr>
      <vt:lpstr>Warning Detection &amp; Response Mechanism</vt:lpstr>
      <vt:lpstr>Objectives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Keshav Khandelwal</cp:lastModifiedBy>
  <cp:revision>21</cp:revision>
  <dcterms:created xsi:type="dcterms:W3CDTF">2025-09-29T05:03:41Z</dcterms:created>
  <dcterms:modified xsi:type="dcterms:W3CDTF">2026-02-15T05:31:20Z</dcterms:modified>
</cp:coreProperties>
</file>